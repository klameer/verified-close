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A44"/>
                </a:solidFill>
              </a:defRPr>
            </a:pPr>
            <a:r>
              <a:t>Caldergate Distribution Group Ltd</a:t>
            </a:r>
          </a:p>
          <a:p>
            <a:pPr>
              <a:defRPr sz="2600">
                <a:solidFill>
                  <a:srgbClr val="1F2A44"/>
                </a:solidFill>
              </a:defRPr>
            </a:pPr>
            <a:r>
              <a:t>Monthly Management Pack — May-26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SIGNED KL 2026-10-18 — built by the verified-close plugin from reviewer-signed figures only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t>Fictitious data (demo estate)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A44"/>
                </a:solidFill>
              </a:defRPr>
            </a:pPr>
            <a:r>
              <a:t>Cash &amp; bank — May-26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7315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2860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GBP</a:t>
                      </a:r>
                    </a:p>
                  </a:txBody>
                  <a:tcPr marT="18288" marB="18288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Balance per bank statement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£9,882,613.23</a:t>
                      </a:r>
                    </a:p>
                  </a:txBody>
                  <a:tcPr marT="18288" marB="18288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Less: unpresented payments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£-1,216,700.06</a:t>
                      </a:r>
                    </a:p>
                  </a:txBody>
                  <a:tcPr marT="18288" marB="18288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Add: uncleared lodgements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£245,475.75</a:t>
                      </a:r>
                    </a:p>
                  </a:txBody>
                  <a:tcPr marT="18288" marB="18288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Balance per cashbook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£8,911,388.92</a:t>
                      </a:r>
                    </a:p>
                  </a:txBody>
                  <a:tcPr marT="18288" marB="18288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Reconciling items: 6 (all timing); stale items: 1 — see close log for reviewer decisions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</a:p>
                  </a:txBody>
                  <a:tcPr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A44"/>
                </a:solidFill>
              </a:defRPr>
            </a:pPr>
            <a:r>
              <a:t>P&amp;L vs budget — May-26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188720"/>
                <a:gridCol w="1188720"/>
                <a:gridCol w="1188720"/>
                <a:gridCol w="1005840"/>
                <a:gridCol w="640080"/>
                <a:gridCol w="822960"/>
              </a:tblGrid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Line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Actual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Budget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Var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Var 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F/A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Facilities &amp; Safety Supplies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8,343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8,216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+127.0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+1.5%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FLAG</a:t>
                      </a: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Industrial Consumables &amp; Packaging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8,464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8,361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+103.0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+1.2%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FLAG</a:t>
                      </a: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Office &amp; Print Solutions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4,256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4,176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+80.0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+1.9%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Total revenue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21,063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20,753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+310.0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Cost of goods sold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15,843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15,599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+244.0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+1.6%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FLAG</a:t>
                      </a: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Gross margin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5,220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5,154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+66.0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Warehouse &amp; Logistics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1,661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1,663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-2.0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-0.1%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Sales &amp; Account Management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1,257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1,230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+27.0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+2.2%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Procurement &amp; Merchandising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597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586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+11.0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+1.9%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IT &amp; Digital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521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519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+2.0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+0.4%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General &amp; Administrative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796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807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-11.0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-1.4%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Total operating expenses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4,832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4,805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+27.0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EBITDA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388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349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+39.0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Depreciation &amp; amortisation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400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400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+0.0%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Interest expense, net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132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132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+0.0%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Taxation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-36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-36.0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</a:p>
                  </a:txBody>
                  <a:tcPr marT="18288" marB="18288"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Net result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-108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-183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+75.0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</a:t>
                      </a:r>
                    </a:p>
                  </a:txBody>
                  <a:tcPr marT="18288" marB="18288"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</a:p>
                  </a:txBody>
                  <a:tcPr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A44"/>
                </a:solidFill>
              </a:defRPr>
            </a:pPr>
            <a:r>
              <a:t>Commentary — flagged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Facilities &amp; Safety Supplies: revenue 8,343 against budget 8,216, +127.0 favourable. Driver not evidenced in the documents: Commercial Director to comment. (Source: signed Variance Report - May-26, commentary sheet.)</a:t>
            </a:r>
          </a:p>
          <a:p>
            <a:pPr>
              <a:defRPr sz="1200"/>
            </a:pPr>
            <a:r>
              <a:t>Industrial Consumables &amp; Packaging: revenue 8,464 against budget 8,361, +103.0 favourable. Driver not evidenced in the documents: Commercial Director to comment. April was restated for a £620k cut-off correction on this line (Monthly Report - Apr-26 v2 FINAL); no document links it to May's variance. (Source: signed Variance Report - May-26; Monthly Report - Apr-26 v2 FINAL.)</a:t>
            </a:r>
          </a:p>
          <a:p>
            <a:pPr>
              <a:defRPr sz="1200"/>
            </a:pPr>
            <a:r>
              <a:t>Cost of goods sold: 15,843 against budget 15,599, +244.0 adverse. Driver not evidenced in the documents: Head of Procurement to comment. (Source: signed Variance Report - May-26, commentary sheet.)</a:t>
            </a:r>
          </a:p>
          <a:p>
            <a:pPr>
              <a:defRPr sz="1200"/>
            </a:pPr>
            <a:r>
              <a:t>Bank: the operating account agrees to the cashbook at 8,911,388.92 as at 31 May 2026, against a statement balance of 9,882,613.23. Cheque 004182 (Airedale Window Cleaning, -1,850.00) is to be stopped and reissued, as decided by KL at sign-off. (Source: signed Bank Reconciliation - Operating Account - May-26.)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A44"/>
                </a:solidFill>
              </a:defRPr>
            </a:pPr>
            <a:r>
              <a:t>Close status &amp; sign-off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step1: signed 2026-10-18T14:26:24+00:00 by KL (sha256 44fc053f059d…)</a:t>
            </a:r>
          </a:p>
          <a:p>
            <a:pPr>
              <a:defRPr sz="1200"/>
            </a:pPr>
            <a:r>
              <a:t>step2: signed 2026-10-18T14:27:01+00:00 by KL (sha256 0babe2ffeeec…)</a:t>
            </a:r>
          </a:p>
          <a:p>
            <a:pPr>
              <a:defRPr sz="1200"/>
            </a:pPr>
            <a:r>
              <a:t>Units: variance figures in thousands; cash figures in full. Variance = actual - budget; F/A = effect on profit. Flag threshold ±100k.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