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2A44"/>
                </a:solidFill>
              </a:defRPr>
            </a:pPr>
            <a:r>
              <a:t>Caldergate Distribution Group Ltd</a:t>
            </a:r>
          </a:p>
          <a:p>
            <a:pPr>
              <a:defRPr sz="2600">
                <a:solidFill>
                  <a:srgbClr val="1F2A44"/>
                </a:solidFill>
              </a:defRPr>
            </a:pPr>
            <a:r>
              <a:t>Monthly Management Pack — May-26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SIGNED KL 2026-10-18 — built by the verified-close plugin from reviewer-signed figures only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t>Fictitious data (demo estate)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A44"/>
                </a:solidFill>
              </a:defRPr>
            </a:pPr>
            <a:r>
              <a:t>Cash &amp; bank — May-26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73152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2286000"/>
              </a:tblGrid>
              <a:tr h="274319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GBP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Balance per bank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£9,882,613.23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Less: unpresented payments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£-1,216,700.06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Add: uncleared lodgements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£245,475.75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Balance per cashbook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£8,911,388.92</a:t>
                      </a:r>
                    </a:p>
                  </a:txBody>
                  <a:tcPr/>
                </a:tc>
              </a:tr>
              <a:tr h="274324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Reconciling items: 6 (all timing); stale items: 1 — see close log for reviewer decisions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A44"/>
                </a:solidFill>
              </a:defRPr>
            </a:pPr>
            <a:r>
              <a:t>P&amp;L vs budget — May-26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99669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371600"/>
                <a:gridCol w="1371600"/>
                <a:gridCol w="1371600"/>
                <a:gridCol w="1188720"/>
                <a:gridCol w="822960"/>
              </a:tblGrid>
              <a:tr h="27432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Var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Var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Facilities &amp; Safety Supplies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8,343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8,216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+127.0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FLAG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Industrial Consumables &amp; Packaging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8,464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8,361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+103.0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FLAG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Office &amp; Print Solutions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4,256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4,176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+80.0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Cost of goods sold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15,843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15,599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+244.0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FLAG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Warehouse &amp; Logistics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1,661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1,663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Sales &amp; Account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1,257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1,230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+27.0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Procurement &amp; Merchandising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+11.0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IT &amp; Digital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General &amp; Administrative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-11.0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Depreciation &amp; amortisation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Interest expense,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Taxation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-36.0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42,234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41,689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+545.0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A44"/>
                </a:solidFill>
              </a:defRPr>
            </a:pPr>
            <a:r>
              <a:t>Commentary — flagged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Bank position: the cashbook balance is £8,911,388.92, agreeing to the bank statement balance of £9,882,613.23 after unpresented payments and uncleared lodgements (Bank Reconciliation - Operating Account - May-26 SIGNED KL.xlsx). Cheque 004182 (Airedale Window Cleaning, £1,850.00) is to be stopped and reissued, as decided by KL.</a:t>
            </a:r>
          </a:p>
          <a:p>
            <a:pPr>
              <a:defRPr sz="1200"/>
            </a:pPr>
            <a:r>
              <a:t>Facilities &amp; Safety Supplies: actual 8,343 against budget 8,216, +127.0 (£'000). Driver not evidenced in the documents: Commercial Director to comment (Variance Report - May-26 SIGNED KL.xlsx).</a:t>
            </a:r>
          </a:p>
          <a:p>
            <a:pPr>
              <a:defRPr sz="1200"/>
            </a:pPr>
            <a:r>
              <a:t>Industrial Consumables &amp; Packaging: actual 8,464 against budget 8,361, +103.0 (£'000). Driver not evidenced in the documents: Commercial Director to comment (Variance Report - May-26 SIGNED KL.xlsx).</a:t>
            </a:r>
          </a:p>
          <a:p>
            <a:pPr>
              <a:defRPr sz="1200"/>
            </a:pPr>
            <a:r>
              <a:t>Cost of goods sold: actual 15,843 against budget 15,599, +244.0 (£'000). Driver not evidenced in the documents: Head of Procurement to comment (Variance Report - May-26 SIGNED KL.xlsx).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A44"/>
                </a:solidFill>
              </a:defRPr>
            </a:pPr>
            <a:r>
              <a:t>Close status &amp; sign-off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step1: signed 2026-10-18T11:26:14+00:00 by KL (sha256 44fc053f059d…)</a:t>
            </a:r>
          </a:p>
          <a:p>
            <a:pPr>
              <a:defRPr sz="1200"/>
            </a:pPr>
            <a:r>
              <a:t>step2: signed 2026-10-18T11:26:40+00:00 by KL (sha256 9e007c8f0143…)</a:t>
            </a:r>
          </a:p>
          <a:p>
            <a:pPr>
              <a:defRPr sz="1200"/>
            </a:pPr>
            <a:r>
              <a:t>Units: variance figures in thousands; cash figures in full. Flag threshold ±100k.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